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KAIROS-6G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KAIROS-6G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BCE2FF"/>
                </a:solidFill>
              </a:rPr>
              <a:t>KPI-Aware Intelligent Reasoning for Operations and SUNRISE-6G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Evidence-grounded explainability layer for federated 6G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57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8ECAE6"/>
                </a:solidFill>
              </a:rPr>
              <a:t>Motivation • Architecture • Sustainability • Relevance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1266"/>
            <a:ext cx="9144000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A"/>
                </a:solidFill>
              </a:rPr>
              <a:t>Motivation: 6G experiments need explainable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331720" cy="4297680"/>
          </a:xfrm>
          <a:prstGeom prst="roundRect">
            <a:avLst/>
          </a:prstGeom>
          <a:solidFill>
            <a:srgbClr val="EAF2F8"/>
          </a:solidFill>
          <a:ln>
            <a:solidFill>
              <a:srgbClr val="7FB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Problem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Federated testbeds create heterogeneous workflows, telemetry, logs, and model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234440"/>
            <a:ext cx="2331720" cy="4297680"/>
          </a:xfrm>
          <a:prstGeom prst="roundRect">
            <a:avLst/>
          </a:prstGeom>
          <a:solidFill>
            <a:srgbClr val="E8F8F5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Need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Operators must connect intent, workflow state, KPI deviations, and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2331720" cy="4297680"/>
          </a:xfrm>
          <a:prstGeom prst="roundRect">
            <a:avLst/>
          </a:prstGeom>
          <a:solidFill>
            <a:srgbClr val="FEF5E7"/>
          </a:solidFill>
          <a:ln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KAIROS answer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Closed loop from operator intent to anomaly detection, memory, and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7818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1F3A"/>
                </a:solidFill>
              </a:rPr>
              <a:t>Core idea: convert noisy KPI streams into inspectable, repeatable, evidence-backed operational reasoning.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B1F3A"/>
                </a:solidFill>
              </a:rPr>
              <a:t>Architecture: four planes connected by shared evidence</a:t>
            </a:r>
          </a:p>
        </p:txBody>
      </p:sp>
      <p:pic>
        <p:nvPicPr>
          <p:cNvPr id="5" name="Picture 4" descr="kairos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822960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617720"/>
            <a:ext cx="1874519" cy="1143000"/>
          </a:xfrm>
          <a:prstGeom prst="roundRect">
            <a:avLst/>
          </a:prstGeom>
          <a:solidFill>
            <a:srgbClr val="EAF2F8"/>
          </a:solidFill>
          <a:ln>
            <a:solidFill>
              <a:srgbClr val="7FB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Interaction</a:t>
            </a:r>
          </a:p>
          <a:p>
            <a:r>
              <a:rPr dirty="0">
                <a:solidFill>
                  <a:schemeClr val="tx1"/>
                </a:solidFill>
              </a:rPr>
              <a:t>Command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1740" y="4617720"/>
            <a:ext cx="1874519" cy="1143000"/>
          </a:xfrm>
          <a:prstGeom prst="roundRect">
            <a:avLst/>
          </a:prstGeom>
          <a:solidFill>
            <a:srgbClr val="E8F8F5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Execution</a:t>
            </a:r>
          </a:p>
          <a:p>
            <a:r>
              <a:rPr dirty="0">
                <a:solidFill>
                  <a:schemeClr val="tx1"/>
                </a:solidFill>
              </a:rPr>
              <a:t>Argo + AutoML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617720"/>
            <a:ext cx="2249850" cy="1143000"/>
          </a:xfrm>
          <a:prstGeom prst="roundRect">
            <a:avLst/>
          </a:prstGeom>
          <a:solidFill>
            <a:srgbClr val="FEF5E7"/>
          </a:solidFill>
          <a:ln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Observability</a:t>
            </a:r>
          </a:p>
          <a:p>
            <a:r>
              <a:rPr dirty="0" err="1">
                <a:solidFill>
                  <a:schemeClr val="tx1"/>
                </a:solidFill>
              </a:rPr>
              <a:t>OTel</a:t>
            </a:r>
            <a:r>
              <a:rPr dirty="0">
                <a:solidFill>
                  <a:schemeClr val="tx1"/>
                </a:solidFill>
              </a:rPr>
              <a:t> +</a:t>
            </a:r>
            <a:r>
              <a:rPr lang="en-IE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Prometheus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1" y="4617720"/>
            <a:ext cx="1874519" cy="1143000"/>
          </a:xfrm>
          <a:prstGeom prst="roundRect">
            <a:avLst/>
          </a:prstGeom>
          <a:solidFill>
            <a:srgbClr val="F4ECF7"/>
          </a:solidFill>
          <a:ln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Reasoning</a:t>
            </a:r>
          </a:p>
          <a:p>
            <a:r>
              <a:rPr dirty="0">
                <a:solidFill>
                  <a:schemeClr val="tx1"/>
                </a:solidFill>
              </a:rPr>
              <a:t>LLM +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83747"/>
                </a:solidFill>
              </a:rPr>
              <a:t>Automation stays separate from explanation; identifiers and timestamps join workflow, KPI, anomaly, and MLflow evidence.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Evidence loop: from intent to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280160" cy="731520"/>
          </a:xfrm>
          <a:prstGeom prst="round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17320"/>
            <a:ext cx="1280160" cy="731520"/>
          </a:xfrm>
          <a:prstGeom prst="roundRect">
            <a:avLst/>
          </a:prstGeom>
          <a:solidFill>
            <a:srgbClr val="28B463"/>
          </a:solidFill>
          <a:ln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1280160" cy="7315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417320"/>
            <a:ext cx="1280160" cy="73152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17320"/>
            <a:ext cx="1280160" cy="73152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246120"/>
            <a:ext cx="1508760" cy="822960"/>
          </a:xfrm>
          <a:prstGeom prst="roundRect">
            <a:avLst/>
          </a:prstGeom>
          <a:solidFill>
            <a:srgbClr val="17A589"/>
          </a:solidFill>
          <a:ln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LLM/MCP</a:t>
            </a:r>
          </a:p>
          <a:p>
            <a: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AutoAD turns raw telemetry into anomaly events. MLflow preserves parameters, metrics, artifacts, and detector settings. MCP retrieves scoped evidence; LLM summarizes hypotheses, limits, and next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CE2FF"/>
                </a:solidFill>
              </a:rPr>
              <a:t>Trust boundary: read-only evidence by default; mutating actions stay approval-gated.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Evidence loop: from intent to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CE2FF"/>
                </a:solidFill>
              </a:rPr>
              <a:t>Closed-loop reasoning links workflow automation, KPI telemetry, anomaly detection, experiment memory, and trusted explanation.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3429000" y="2331720"/>
            <a:ext cx="2286000" cy="1234440"/>
          </a:xfrm>
          <a:prstGeom prst="ellipse">
            <a:avLst/>
          </a:prstGeom>
          <a:solidFill>
            <a:srgbClr val="17A5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KAIROS</a:t>
            </a:r>
          </a:p>
          <a:p>
            <a:r>
              <a:t>Reasoning 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417320"/>
            <a:ext cx="1965960" cy="731520"/>
          </a:xfrm>
          <a:prstGeom prst="roundRect">
            <a:avLst/>
          </a:prstGeom>
          <a:solidFill>
            <a:srgbClr val="2E86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Intent</a:t>
            </a:r>
          </a:p>
          <a:p>
            <a:r>
              <a:t>operator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1143000"/>
            <a:ext cx="1920240" cy="731520"/>
          </a:xfrm>
          <a:prstGeom prst="roundRect">
            <a:avLst/>
          </a:prstGeom>
          <a:solidFill>
            <a:srgbClr val="28B4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2. Argo</a:t>
            </a:r>
          </a:p>
          <a:p>
            <a:r>
              <a:t>workflow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417320"/>
            <a:ext cx="1965960" cy="731520"/>
          </a:xfrm>
          <a:prstGeom prst="roundRect">
            <a:avLst/>
          </a:prstGeom>
          <a:solidFill>
            <a:srgbClr val="F39C1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KPIs</a:t>
            </a:r>
          </a:p>
          <a:p>
            <a:r>
              <a:t>telemetry traces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69080"/>
            <a:ext cx="1965960" cy="731520"/>
          </a:xfrm>
          <a:prstGeom prst="round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AutoAD</a:t>
            </a:r>
          </a:p>
          <a:p>
            <a:r>
              <a:t>anomaly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572000"/>
            <a:ext cx="1920240" cy="868680"/>
          </a:xfrm>
          <a:prstGeom prst="roundRect">
            <a:avLst/>
          </a:prstGeom>
          <a:solidFill>
            <a:srgbClr val="8E44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5. MLflow</a:t>
            </a:r>
          </a:p>
          <a:p>
            <a:r>
              <a:t>experiment 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069080"/>
            <a:ext cx="1965960" cy="731520"/>
          </a:xfrm>
          <a:prstGeom prst="roundRect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6. MCP + LLM</a:t>
            </a:r>
          </a:p>
          <a:p>
            <a:r>
              <a:t>evidence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06440"/>
            <a:ext cx="8046720" cy="502920"/>
          </a:xfrm>
          <a:prstGeom prst="roundRect">
            <a:avLst/>
          </a:prstGeom>
          <a:solidFill>
            <a:srgbClr val="143459"/>
          </a:solidFill>
          <a:ln>
            <a:solidFill>
              <a:srgbClr val="8E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Trust boundary: read-only evidence by default; workflow mutations require explicit operator approval.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14813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CE2FF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14813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CE2FF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880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CE2FF"/>
                </a:solidFill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88152" y="4315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CE2FF"/>
                </a:solidFill>
              </a:rPr>
              <a:t>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6352" y="4315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CE2FF"/>
                </a:solidFill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" y="28346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CE2FF"/>
                </a:solidFill>
              </a:rP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27614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9008" y="27614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</a:rPr>
              <a:t>←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and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A"/>
                </a:solidFill>
              </a:rPr>
              <a:t>Sustainability and relevance for SUNRISE-6G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2276"/>
            <a:ext cx="3657600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B1F3A"/>
                </a:solidFill>
              </a:rPr>
              <a:t>Repeatable workflows replace one-off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rgbClr val="0B1F3A"/>
                </a:solidFill>
              </a:rPr>
              <a:t>Evidence </a:t>
            </a:r>
            <a:r>
              <a:rPr sz="1800" dirty="0">
                <a:solidFill>
                  <a:srgbClr val="0B1F3A"/>
                </a:solidFill>
              </a:rPr>
              <a:t>bundles support onboarding and troubleshooting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B1F3A"/>
                </a:solidFill>
              </a:rPr>
              <a:t>Cross-testbed comparison becomes 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B1F3A"/>
                </a:solidFill>
              </a:rPr>
              <a:t>Redacted, attributed context supports trustworthy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B1F3A"/>
                </a:solidFill>
              </a:rPr>
              <a:t>Operational memory survives after demos finish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234440"/>
            <a:ext cx="356616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7FB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For experimenters: faster diagnosis and clearer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514600"/>
            <a:ext cx="3566160" cy="960120"/>
          </a:xfrm>
          <a:prstGeom prst="roundRect">
            <a:avLst/>
          </a:prstGeom>
          <a:solidFill>
            <a:srgbClr val="E8F8F5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For testbeds: reusable recipes and comparable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794760"/>
            <a:ext cx="3566160" cy="960120"/>
          </a:xfrm>
          <a:prstGeom prst="roundRect">
            <a:avLst/>
          </a:prstGeom>
          <a:solidFill>
            <a:srgbClr val="FEF5E7"/>
          </a:solidFill>
          <a:ln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For federation: shared knowledge base across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7818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1F3A"/>
                </a:solidFill>
              </a:rPr>
              <a:t>Bottom line: KAIROS makes 6G operations inspectable, repeatable, reusable, and human-accountable.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363</Words>
  <Application>Microsoft Macintosh PowerPoint</Application>
  <PresentationFormat>On-screen Show (4:3)</PresentationFormat>
  <Paragraphs>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KAIROS-6G</vt:lpstr>
      <vt:lpstr>Motivation</vt:lpstr>
      <vt:lpstr>Architecture</vt:lpstr>
      <vt:lpstr>Evidence Loop</vt:lpstr>
      <vt:lpstr>Sustainability and Relevance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KAIROS-6G Overview</dc:title>
  <dc:subject>Motivation, Architecture, Sustainability, Relevance</dc:subject>
  <dc:creator>KAIROS-6G</dc:creator>
  <cp:keywords/>
  <dc:description>generated using python-pptx</dc:description>
  <cp:lastModifiedBy>PAULITO PALMES</cp:lastModifiedBy>
  <cp:revision>11</cp:revision>
  <dcterms:created xsi:type="dcterms:W3CDTF">2013-01-27T09:14:16Z</dcterms:created>
  <dcterms:modified xsi:type="dcterms:W3CDTF">2026-07-13T13:54:07Z</dcterms:modified>
  <cp:category/>
</cp:coreProperties>
</file>